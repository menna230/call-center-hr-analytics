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.png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image" Target="../media/image2.png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8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0" Type="http://schemas.openxmlformats.org/officeDocument/2006/relationships/image" Target="../media/image95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Relationship Id="rId14" Type="http://schemas.openxmlformats.org/officeDocument/2006/relationships/image" Target="../media/image9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07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12" Type="http://schemas.openxmlformats.org/officeDocument/2006/relationships/image" Target="../media/image3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3.png"/><Relationship Id="rId11" Type="http://schemas.openxmlformats.org/officeDocument/2006/relationships/image" Target="../media/image38.png"/><Relationship Id="rId5" Type="http://schemas.openxmlformats.org/officeDocument/2006/relationships/image" Target="../media/image102.png"/><Relationship Id="rId15" Type="http://schemas.openxmlformats.org/officeDocument/2006/relationships/image" Target="../media/image109.png"/><Relationship Id="rId10" Type="http://schemas.openxmlformats.org/officeDocument/2006/relationships/image" Target="../media/image37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Relationship Id="rId14" Type="http://schemas.openxmlformats.org/officeDocument/2006/relationships/image" Target="../media/image10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png"/><Relationship Id="rId11" Type="http://schemas.openxmlformats.org/officeDocument/2006/relationships/image" Target="../media/image118.png"/><Relationship Id="rId5" Type="http://schemas.openxmlformats.org/officeDocument/2006/relationships/image" Target="../media/image112.png"/><Relationship Id="rId10" Type="http://schemas.openxmlformats.org/officeDocument/2006/relationships/image" Target="../media/image117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90524" y="2772667"/>
            <a:ext cx="7610951" cy="721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609"/>
              </a:lnSpc>
              <a:defRPr/>
            </a:pPr>
            <a:r>
              <a:rPr sz="5100" b="0" i="0" u="none" dirty="0">
                <a:solidFill>
                  <a:srgbClr val="FFFFFF"/>
                </a:solidFill>
                <a:latin typeface="Poppins ExtraBold"/>
              </a:rPr>
              <a:t>Project _ Call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21893" y="3713708"/>
            <a:ext cx="474821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rgbClr val="38BDF8"/>
                </a:solidFill>
                <a:latin typeface="Inter"/>
              </a:rPr>
              <a:t>Prepared by: Menna Taha Farag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04925"/>
            <a:ext cx="5381625" cy="36147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304925"/>
            <a:ext cx="5381625" cy="36147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3514725"/>
            <a:ext cx="4905375" cy="704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2538412"/>
            <a:ext cx="4905375" cy="1323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71500"/>
            <a:ext cx="195262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5375" y="1543050"/>
            <a:ext cx="4850606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 u="none">
                <a:solidFill>
                  <a:srgbClr val="0369A1"/>
                </a:solidFill>
                <a:latin typeface="Poppins SemiBold"/>
              </a:rPr>
              <a:t>Corporate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750" y="1543050"/>
            <a:ext cx="4850606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 u="none">
                <a:solidFill>
                  <a:srgbClr val="0369A1"/>
                </a:solidFill>
                <a:latin typeface="Poppins SemiBold"/>
              </a:rPr>
              <a:t>Context &amp;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1943100"/>
            <a:ext cx="4905375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475569"/>
                </a:solidFill>
                <a:latin typeface="Inter"/>
              </a:rPr>
              <a:t>Due to the fast-paced call center environment, rotational shifts, and high work pressure, the company experiences high employee turnover.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1590675"/>
            <a:ext cx="19050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19175" y="1943100"/>
            <a:ext cx="46958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Company Name: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Concentrix Egypt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175" y="2219325"/>
            <a:ext cx="46958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Industry: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IT Services &amp; IT Consulting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2495550"/>
            <a:ext cx="46958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Headquarters: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Newark, California, USA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175" y="2771775"/>
            <a:ext cx="46958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Company Type: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Public Company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175" y="3048000"/>
            <a:ext cx="46958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Global Reach: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Leaders in CX &amp; BPO serving 70+ countries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125" y="3629025"/>
            <a:ext cx="456247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369A1"/>
                </a:solidFill>
                <a:latin typeface="Poppins"/>
              </a:rPr>
              <a:t>90 Employees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3962400"/>
            <a:ext cx="45624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Inter"/>
              </a:rPr>
              <a:t>Current Operational Workforce in Egypt Branch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1590675"/>
            <a:ext cx="190500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00825" y="2690812"/>
            <a:ext cx="1371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Inter"/>
              </a:rPr>
              <a:t>Key Business Impacts: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0" y="4005262"/>
            <a:ext cx="13906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Inter"/>
              </a:rPr>
              <a:t>Core Services Offered: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191452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219075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246697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274320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725" y="301942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2909887"/>
            <a:ext cx="44481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Increased employee stress &amp; burnout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0375" y="3186112"/>
            <a:ext cx="44481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Reduced individual &amp; team operational performance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0375" y="3462337"/>
            <a:ext cx="44481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Continuous, urgent recruitment needs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4224337"/>
            <a:ext cx="1371600" cy="20002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5750" y="4224337"/>
            <a:ext cx="914400" cy="20002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77300" y="4224337"/>
            <a:ext cx="1190625" cy="2000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25075" y="4224337"/>
            <a:ext cx="866775" cy="20002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4481512"/>
            <a:ext cx="838200" cy="20002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638925" y="2881312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38925" y="3157537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38925" y="3433762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1062" y="476250"/>
            <a:ext cx="11276409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Company Overview: Concentrix Egypt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1500" y="10477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304925"/>
            <a:ext cx="5381625" cy="3800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304925"/>
            <a:ext cx="5381625" cy="1866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14700"/>
            <a:ext cx="5381625" cy="1790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71500"/>
            <a:ext cx="328612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1314450"/>
            <a:ext cx="5362575" cy="37814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19175" y="1485900"/>
            <a:ext cx="4990623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0369A1"/>
                </a:solidFill>
                <a:latin typeface="Poppins SemiBold"/>
              </a:rPr>
              <a:t>Position Specifications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175" y="3495675"/>
            <a:ext cx="4990623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0369A1"/>
                </a:solidFill>
                <a:latin typeface="Poppins SemiBold"/>
              </a:rPr>
              <a:t>Budget &amp; Channels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1528762"/>
            <a:ext cx="17145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2025" y="1857375"/>
            <a:ext cx="48101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Position Title: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Customer Service Representative (Call Center Agent)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2133600"/>
            <a:ext cx="48101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Department: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Operations _ Call Center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2409825"/>
            <a:ext cx="48101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Vacancies: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2714625"/>
            <a:ext cx="48101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Hiring Reason: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Replace turnover departures &amp; sustain operations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3538537"/>
            <a:ext cx="171450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2025" y="3867150"/>
            <a:ext cx="48101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Budget Range: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8,000 – 10,000 EGP /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4143375"/>
            <a:ext cx="48101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Deadline to Hire: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4448175"/>
            <a:ext cx="48101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Recruitment Sources: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Company Website, LinkedIn, Facebook, Employee Referrals, Job Fairs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575" y="182880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" y="210502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575" y="238125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14500" y="2409825"/>
            <a:ext cx="942975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90575" y="268605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575" y="383857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575" y="411480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76450" y="4143375"/>
            <a:ext cx="657225" cy="228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90575" y="441960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412" y="476250"/>
            <a:ext cx="11136391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Recruitment Plan: Basic Information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" y="10477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4633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14450"/>
            <a:ext cx="8228371" cy="2181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99" y="3609975"/>
            <a:ext cx="7304140" cy="14049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5837" y="476250"/>
            <a:ext cx="486560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Target Candidate Profile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71500"/>
            <a:ext cx="300037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19175" y="1476375"/>
            <a:ext cx="4660582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0369A1"/>
                </a:solidFill>
                <a:latin typeface="Poppins SemiBold"/>
              </a:rPr>
              <a:t>Qualifications &amp; 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075" y="3771900"/>
            <a:ext cx="4700587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0369A1"/>
                </a:solidFill>
                <a:latin typeface="Poppins SemiBold"/>
              </a:rPr>
              <a:t>Traits &amp; Responsibilities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425" y="4124325"/>
            <a:ext cx="47244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475569"/>
                </a:solidFill>
                <a:latin typeface="Inter"/>
              </a:rPr>
              <a:t>Traits: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Patient, Positive attitude, Team player, Adaptable, Responsible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" y="4481512"/>
            <a:ext cx="47244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475569"/>
                </a:solidFill>
                <a:latin typeface="Inter"/>
              </a:rPr>
              <a:t>Key Duties: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Handle inquiries, resolve complaints, record customer info accurately, meet daily/monthly KPIs, escalate complex issues.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1519237"/>
            <a:ext cx="19050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42975" y="1828800"/>
            <a:ext cx="45148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Experience: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0-2 years in customer service / call center (Fresh graduates welcome)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2975" y="2305050"/>
            <a:ext cx="45148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 dirty="0">
                <a:solidFill>
                  <a:srgbClr val="475569"/>
                </a:solidFill>
                <a:latin typeface="Inter"/>
              </a:rPr>
              <a:t>Education:</a:t>
            </a:r>
            <a:r>
              <a:rPr sz="1050" b="0" i="0" u="none" dirty="0">
                <a:solidFill>
                  <a:srgbClr val="475569"/>
                </a:solidFill>
                <a:latin typeface="Inter"/>
              </a:rPr>
              <a:t> Bachelor's Degree (Any Discipline)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975" y="2581275"/>
            <a:ext cx="45148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Required Skills: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Excellent communication, English (B1–B2), Customer Service, Pressure tolerance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2975" y="3057525"/>
            <a:ext cx="45148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Preferred Skills: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Previous call center exp, CRM system knowledge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3814762"/>
            <a:ext cx="152400" cy="15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1525" y="180022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5" y="227647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525" y="255270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525" y="302895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04925"/>
            <a:ext cx="3555950" cy="2486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1304925"/>
            <a:ext cx="3555950" cy="2486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1304925"/>
            <a:ext cx="3555950" cy="2486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0374" y="4086225"/>
            <a:ext cx="666750" cy="666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5267325"/>
            <a:ext cx="5334000" cy="1047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4878" y="4086225"/>
            <a:ext cx="666750" cy="666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50" y="5267325"/>
            <a:ext cx="5334000" cy="10477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571500"/>
            <a:ext cx="233362" cy="2667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123950" y="4743450"/>
            <a:ext cx="99441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575" y="1524000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0575" y="2114550"/>
            <a:ext cx="327369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oppins"/>
              </a:rPr>
              <a:t>Primary Channels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37025" y="1524000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37025" y="2114550"/>
            <a:ext cx="327369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oppins"/>
              </a:rPr>
              <a:t>Secondary Channels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83475" y="1524000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83475" y="2114550"/>
            <a:ext cx="327369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oppins"/>
              </a:rPr>
              <a:t>Selection Stages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8687" y="1647825"/>
            <a:ext cx="180975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00125" y="2466975"/>
            <a:ext cx="2908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Concentrix Official Website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125" y="2743200"/>
            <a:ext cx="2908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LinkedIn Corporate Page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0125" y="3019425"/>
            <a:ext cx="2908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Facebook Recruitment Groups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125" y="3295650"/>
            <a:ext cx="2908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Internal Employee Referrals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60850" y="1647825"/>
            <a:ext cx="209550" cy="2095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46575" y="2466975"/>
            <a:ext cx="2908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Wuzzuf Job Portal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46575" y="2743200"/>
            <a:ext cx="2908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University &amp; Job Fairs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07300" y="1647825"/>
            <a:ext cx="209550" cy="2095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359675" y="2464593"/>
            <a:ext cx="952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1.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4925" y="2466975"/>
            <a:ext cx="2946350" cy="21431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CV Screening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1100" y="2678906"/>
            <a:ext cx="1238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2.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4925" y="2681287"/>
            <a:ext cx="2946350" cy="214312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HR Interview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1100" y="2893218"/>
            <a:ext cx="1238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3.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4925" y="2895600"/>
            <a:ext cx="2946350" cy="214312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English &amp; Communication 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1100" y="3107531"/>
            <a:ext cx="1238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4.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4925" y="3109912"/>
            <a:ext cx="2946350" cy="214312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Job Offer Issuance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3423" y="5448300"/>
            <a:ext cx="522065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369A1"/>
                </a:solidFill>
                <a:latin typeface="Poppins"/>
              </a:rPr>
              <a:t>Week 1: Sourcing &amp; Screening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725" y="5762625"/>
            <a:ext cx="49720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Publish job advertisements across channels, collect incoming applications, and perform CV screening &amp; shortlisting.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7923" y="5448300"/>
            <a:ext cx="522065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369A1"/>
                </a:solidFill>
                <a:latin typeface="Poppins"/>
              </a:rPr>
              <a:t>Week 2: Interviewing &amp; Hiring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2225" y="5762625"/>
            <a:ext cx="49720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Conduct structured HR interviews, complete English &amp; Communication assessments, and send job offers.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675" y="243840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675" y="271462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675" y="299085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8675" y="326707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5125" y="243840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5125" y="271462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9162" y="476250"/>
            <a:ext cx="11236404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Sourcing Strategy &amp; 2-Week Timeline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1500" y="10477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267325"/>
            <a:ext cx="2095500" cy="628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9875" y="5267325"/>
            <a:ext cx="2095500" cy="628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250" y="5267325"/>
            <a:ext cx="2095500" cy="628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6625" y="5267325"/>
            <a:ext cx="2095500" cy="628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0" y="5267325"/>
            <a:ext cx="2095500" cy="628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619250"/>
            <a:ext cx="5381625" cy="24479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210050"/>
            <a:ext cx="5381625" cy="914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8875" y="1619250"/>
            <a:ext cx="5381625" cy="3017043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571500"/>
            <a:ext cx="261937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1304925"/>
            <a:ext cx="565070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oppins"/>
              </a:rPr>
              <a:t>Evaluation Weighting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8875" y="1304925"/>
            <a:ext cx="565070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oppins"/>
              </a:rPr>
              <a:t>Detailed Screening Requirements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5381625"/>
            <a:ext cx="17526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oppins"/>
              </a:rPr>
              <a:t>14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638800"/>
            <a:ext cx="17526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Inter"/>
              </a:rPr>
              <a:t>Time to Hire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0375" y="5381625"/>
            <a:ext cx="17526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oppins"/>
              </a:rPr>
              <a:t>90%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0375" y="5638800"/>
            <a:ext cx="17526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Inter"/>
              </a:rPr>
              <a:t>Offer Acceptance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8750" y="5381625"/>
            <a:ext cx="17526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oppins"/>
              </a:rPr>
              <a:t>≥ 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8750" y="5638800"/>
            <a:ext cx="17526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Inter"/>
              </a:rPr>
              <a:t>Qualified Applicants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7125" y="5381625"/>
            <a:ext cx="17526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oppins"/>
              </a:rPr>
              <a:t>3 :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7125" y="5638800"/>
            <a:ext cx="17526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Inter"/>
              </a:rPr>
              <a:t>Interview-to-Hire Ratio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5500" y="5381625"/>
            <a:ext cx="17526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oppins"/>
              </a:rPr>
              <a:t>900 EGP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5500" y="5638800"/>
            <a:ext cx="17526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Inter"/>
              </a:rPr>
              <a:t>Cost Per Hire Target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81025" y="1628775"/>
          <a:ext cx="5362574" cy="2428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9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4812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Criteria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Weight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812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Communication Skills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30%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812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English Language Proficiency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30%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812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Customer Service Skills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20%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812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Problem-Solving 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10%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815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Culture Fit &amp; Traits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10%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85800" y="4352925"/>
            <a:ext cx="13906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Inter"/>
              </a:rPr>
              <a:t>Pass / Fail Benchmark: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552950"/>
            <a:ext cx="51530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937" b="0" i="0" u="none">
                <a:solidFill>
                  <a:srgbClr val="475569"/>
                </a:solidFill>
                <a:latin typeface="Inter"/>
              </a:rPr>
              <a:t>Score ≥ 60% proceeds to interview.</a:t>
            </a:r>
            <a:r>
              <a:t>
</a:t>
            </a:r>
            <a:r>
              <a:rPr sz="937" b="0" i="0" u="none">
                <a:solidFill>
                  <a:srgbClr val="475569"/>
                </a:solidFill>
                <a:latin typeface="Inter"/>
              </a:rPr>
              <a:t> Score &lt; 60% automatically rejected.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248400" y="1628775"/>
          <a:ext cx="5362573" cy="2997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0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86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749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Criteria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Requirement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Weight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749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Education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Bachelor's Degree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10%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749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Experience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0-2 yrs Call Center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15%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749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English Level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B1 - B2 or above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30%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749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Communication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Good verbal &amp; written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25%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749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Personality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Positive, Adaptable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10%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749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Computer Skills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Basic MS Office &amp; Typing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750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Availability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Rotational shifts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4552950"/>
            <a:ext cx="495300" cy="2286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4781550"/>
            <a:ext cx="428625" cy="22860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581025" y="2414587"/>
            <a:ext cx="39097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490739" y="2414587"/>
            <a:ext cx="14528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81025" y="2824162"/>
            <a:ext cx="39097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490739" y="2824162"/>
            <a:ext cx="14528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81025" y="3233737"/>
            <a:ext cx="39097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490739" y="3233737"/>
            <a:ext cx="14528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81025" y="3643312"/>
            <a:ext cx="39097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490739" y="3643312"/>
            <a:ext cx="14528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48400" y="2378868"/>
            <a:ext cx="17203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968704" y="2378868"/>
            <a:ext cx="25535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0522297" y="2378868"/>
            <a:ext cx="10886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48400" y="2752725"/>
            <a:ext cx="17203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968704" y="2752725"/>
            <a:ext cx="25535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0522297" y="2752725"/>
            <a:ext cx="10886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248400" y="3126581"/>
            <a:ext cx="17203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968704" y="3126581"/>
            <a:ext cx="25535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522297" y="3126581"/>
            <a:ext cx="10886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248400" y="3500437"/>
            <a:ext cx="17203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968704" y="3500437"/>
            <a:ext cx="25535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522297" y="3500437"/>
            <a:ext cx="10886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248400" y="3874293"/>
            <a:ext cx="17203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968704" y="3874293"/>
            <a:ext cx="25535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522297" y="3874293"/>
            <a:ext cx="10886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248400" y="4248150"/>
            <a:ext cx="17203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968704" y="4248150"/>
            <a:ext cx="25535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0522297" y="4248150"/>
            <a:ext cx="10886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09482" y="2105025"/>
            <a:ext cx="457200" cy="228600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09482" y="2533650"/>
            <a:ext cx="457200" cy="228600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14244" y="2914649"/>
            <a:ext cx="447675" cy="228600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23768" y="3343275"/>
            <a:ext cx="428625" cy="22860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44824" y="3755231"/>
            <a:ext cx="428625" cy="2286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947737" y="476250"/>
            <a:ext cx="1120640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Evaluation &amp; Screening Criteria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71500" y="10477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04925"/>
            <a:ext cx="5381625" cy="3838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304925"/>
            <a:ext cx="5381625" cy="3838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1943100"/>
            <a:ext cx="4905375" cy="1524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657600"/>
            <a:ext cx="4905375" cy="12477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2962275"/>
            <a:ext cx="4905375" cy="10191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71500"/>
            <a:ext cx="261937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6325" y="1543050"/>
            <a:ext cx="4870608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 u="none">
                <a:solidFill>
                  <a:srgbClr val="0369A1"/>
                </a:solidFill>
                <a:latin typeface="Poppins SemiBold"/>
              </a:rPr>
              <a:t>Screening Indicators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0375" y="1543050"/>
            <a:ext cx="48006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 u="none">
                <a:solidFill>
                  <a:srgbClr val="0369A1"/>
                </a:solidFill>
                <a:latin typeface="Poppins SemiBold"/>
              </a:rPr>
              <a:t>Structured Interview Process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1590675"/>
            <a:ext cx="17145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1075" y="2066924"/>
            <a:ext cx="714375" cy="150041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991B1B"/>
                </a:solidFill>
                <a:latin typeface="Inter"/>
              </a:rPr>
              <a:t>Red Flags: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075" y="3781425"/>
            <a:ext cx="1535983" cy="152400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166534"/>
                </a:solidFill>
                <a:latin typeface="Inter"/>
              </a:rPr>
              <a:t>Strong Indicators: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1590675"/>
            <a:ext cx="238125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86550" y="1943100"/>
            <a:ext cx="46958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Interview Format: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Structured &amp; Behavioral Interview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6550" y="2219325"/>
            <a:ext cx="46958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Panel Members: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HR Specialist, Operations Manager, Team Leader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86550" y="2495550"/>
            <a:ext cx="46958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Duration: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30 – 45 Minutes per candidate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1300" y="3105150"/>
            <a:ext cx="11811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0F172A"/>
                </a:solidFill>
                <a:latin typeface="Inter"/>
              </a:rPr>
              <a:t>Interview Stages: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4875" y="2085975"/>
            <a:ext cx="123825" cy="12382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14425" y="2266950"/>
            <a:ext cx="45053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Poor English language level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4425" y="2543175"/>
            <a:ext cx="45053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Unprofessional or incomplete CV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4425" y="2819400"/>
            <a:ext cx="45053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Frequent job changes without clear reasons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4425" y="3095625"/>
            <a:ext cx="45053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Missing contact details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4875" y="3800475"/>
            <a:ext cx="123825" cy="12382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14425" y="3981450"/>
            <a:ext cx="45053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Clear and well-organized resume format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4425" y="4257675"/>
            <a:ext cx="45053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Relevant customer service experience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4425" y="4533900"/>
            <a:ext cx="45053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High English proficiency &amp; highlighted skills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5100" y="191452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5100" y="219075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5100" y="246697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91300" y="3324225"/>
            <a:ext cx="230981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334155"/>
                </a:solidFill>
                <a:latin typeface="Inter"/>
              </a:rPr>
              <a:t>1. Introduction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58262" y="3324225"/>
            <a:ext cx="230981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334155"/>
                </a:solidFill>
                <a:latin typeface="Inter"/>
              </a:rPr>
              <a:t>2. Background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91300" y="3524250"/>
            <a:ext cx="230981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334155"/>
                </a:solidFill>
                <a:latin typeface="Inter"/>
              </a:rPr>
              <a:t>3. Behavioral Questions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58262" y="3524250"/>
            <a:ext cx="230981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334155"/>
                </a:solidFill>
                <a:latin typeface="Inter"/>
              </a:rPr>
              <a:t>4. Tech/Comm 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91300" y="3724275"/>
            <a:ext cx="230981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334155"/>
                </a:solidFill>
                <a:latin typeface="Inter"/>
              </a:rPr>
              <a:t>5. Candidate Q&amp;A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58262" y="3724275"/>
            <a:ext cx="230981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334155"/>
                </a:solidFill>
                <a:latin typeface="Inter"/>
              </a:rPr>
              <a:t>6. Closing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2975" y="223837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2975" y="251460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2975" y="279082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2975" y="306705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2975" y="395287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2975" y="422910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2975" y="450532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7737" y="476250"/>
            <a:ext cx="1120640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Resume Screening &amp; Interview Setup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1500" y="10477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04925"/>
            <a:ext cx="11049000" cy="3209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71500"/>
            <a:ext cx="328612" cy="2667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770756"/>
              </p:ext>
            </p:extLst>
          </p:nvPr>
        </p:nvGraphicFramePr>
        <p:xfrm>
          <a:off x="600077" y="1362076"/>
          <a:ext cx="11010896" cy="3143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4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4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2906"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FFFFFF"/>
                          </a:solidFill>
                          <a:latin typeface="Poppins SemiBold"/>
                        </a:rPr>
                        <a:t>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FFFFFF"/>
                          </a:solidFill>
                          <a:latin typeface="Poppins SemiBold"/>
                        </a:rPr>
                        <a:t>Interview Question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Assessment Purpose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906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34155"/>
                          </a:solidFill>
                          <a:latin typeface="Inter"/>
                        </a:rPr>
                        <a:t>General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Please introduce yourself in English and describe your educational background.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Evaluate English proficiency, communication skills, and confidence.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906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34155"/>
                          </a:solidFill>
                          <a:latin typeface="Inter"/>
                        </a:rPr>
                        <a:t>Motivation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Why do you want to work at Concentrix?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Assess motivation and corporate awareness.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906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34155"/>
                          </a:solidFill>
                          <a:latin typeface="Inter"/>
                        </a:rPr>
                        <a:t>Retention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Why did you leave your previous job? / Why start in customer service?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Assess turnover risk, career motivation, and long-term commitment.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906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34155"/>
                          </a:solidFill>
                          <a:latin typeface="Inter"/>
                        </a:rPr>
                        <a:t>Behavioral (STAR)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Tell me about a time you dealt with a difficult or angry customer.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Evaluate problem-solving, conflict resolution, and customer care.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906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34155"/>
                          </a:solidFill>
                          <a:latin typeface="Inter"/>
                        </a:rPr>
                        <a:t>Prioritization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How would you prioritize multiple simultaneous customer requests?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Assess time management and decision-making under pressure.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906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34155"/>
                          </a:solidFill>
                          <a:latin typeface="Inter"/>
                        </a:rPr>
                        <a:t>Job Fit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Are you comfortable working under pressure and rotational shifts?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Evaluate operational flexibility and adaptability.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909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34155"/>
                          </a:solidFill>
                          <a:latin typeface="Inter"/>
                        </a:rPr>
                        <a:t>Closing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Do you have any questions for us?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Measure genuine interest in the role and company.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81025" y="2257425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35398" y="2257425"/>
            <a:ext cx="49634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98816" y="2257425"/>
            <a:ext cx="44121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2631281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35398" y="2631281"/>
            <a:ext cx="49634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98816" y="2631281"/>
            <a:ext cx="44121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1025" y="3005137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35398" y="3005137"/>
            <a:ext cx="49634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98816" y="3005137"/>
            <a:ext cx="44121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1025" y="3378993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235398" y="3378993"/>
            <a:ext cx="49634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98816" y="3378993"/>
            <a:ext cx="44121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1025" y="3752850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235398" y="3752850"/>
            <a:ext cx="49634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198816" y="3752850"/>
            <a:ext cx="44121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1025" y="4126706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235398" y="4126706"/>
            <a:ext cx="49634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198816" y="4126706"/>
            <a:ext cx="44121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14412" y="476250"/>
            <a:ext cx="11136391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Interview Question Framework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10477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04925"/>
            <a:ext cx="7304139" cy="1695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14675"/>
            <a:ext cx="7304139" cy="11906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71500"/>
            <a:ext cx="328612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0828" y="1483518"/>
            <a:ext cx="5050631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0369A1"/>
                </a:solidFill>
                <a:latin typeface="Poppins SemiBold"/>
              </a:rPr>
              <a:t>Needs &amp;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1819275"/>
            <a:ext cx="5057775" cy="3571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937" b="1" i="0" u="none" dirty="0">
                <a:solidFill>
                  <a:srgbClr val="475569"/>
                </a:solidFill>
                <a:latin typeface="Inter"/>
              </a:rPr>
              <a:t>Addressed Needs:</a:t>
            </a:r>
            <a:r>
              <a:rPr sz="937" b="0" i="0" u="none" dirty="0">
                <a:solidFill>
                  <a:srgbClr val="475569"/>
                </a:solidFill>
                <a:latin typeface="Inter"/>
              </a:rPr>
              <a:t> Weak customer communication, inquiry handling issues, telephone etiquette gaps, active listening needs.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425" y="2328862"/>
            <a:ext cx="5057775" cy="1785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937" b="1" i="0" u="none">
                <a:solidFill>
                  <a:srgbClr val="475569"/>
                </a:solidFill>
                <a:latin typeface="Inter"/>
              </a:rPr>
              <a:t>Target Audience:</a:t>
            </a:r>
            <a:r>
              <a:rPr sz="937" b="0" i="0" u="none">
                <a:solidFill>
                  <a:srgbClr val="475569"/>
                </a:solidFill>
                <a:latin typeface="Inter"/>
              </a:rPr>
              <a:t> 10 Newly hired Customer Service Representatives.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" y="2659856"/>
            <a:ext cx="5057775" cy="1785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937" b="1" i="0" u="none">
                <a:solidFill>
                  <a:srgbClr val="475569"/>
                </a:solidFill>
                <a:latin typeface="Inter"/>
              </a:rPr>
              <a:t>Format &amp; Duration:</a:t>
            </a:r>
            <a:r>
              <a:rPr sz="937" b="0" i="0" u="none">
                <a:solidFill>
                  <a:srgbClr val="475569"/>
                </a:solidFill>
                <a:latin typeface="Inter"/>
              </a:rPr>
              <a:t> 2 Days (4 hrs/day) | Interactive Workshop, Role Play, Mock Calls.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075" y="3276600"/>
            <a:ext cx="5050631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0369A1"/>
                </a:solidFill>
                <a:latin typeface="Poppins SemiBold"/>
              </a:rPr>
              <a:t>Expected Training Results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1509712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3319462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3667125"/>
            <a:ext cx="2490787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00412" y="3667125"/>
            <a:ext cx="2490787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" y="3943350"/>
            <a:ext cx="2490787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00412" y="3943350"/>
            <a:ext cx="2490787" cy="2000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14412" y="476250"/>
            <a:ext cx="11136391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Training Plan: 2-Day Intensive Workshop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0477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19250"/>
            <a:ext cx="5381625" cy="226933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64781"/>
            <a:ext cx="5381625" cy="257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1619250"/>
            <a:ext cx="5381625" cy="24479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4143375"/>
            <a:ext cx="5381625" cy="4381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71500"/>
            <a:ext cx="300037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1304925"/>
            <a:ext cx="565070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oppins"/>
              </a:rPr>
              <a:t>CSR KPI Weighting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8875" y="1304925"/>
            <a:ext cx="565070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oppins"/>
              </a:rPr>
              <a:t>Performance Rating Scale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81025" y="1628775"/>
          <a:ext cx="5362574" cy="22502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8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6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5046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KPI Description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Target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Weight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046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Customer Satisfaction (CSAT)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≥ 90%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30%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046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First Call Resolution (FCR)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≥ 85%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25%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046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Attendance &amp; Punctuality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≥ 95%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15%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046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Schedule Adherence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≥ 95%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15%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051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Average Handling Time (AHT)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≤ 6 min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15%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48400" y="1628775"/>
          <a:ext cx="5362573" cy="2428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5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5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0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4812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Rating Level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Total Score Range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Action Path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812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Excellent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90 – 100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Reward &amp; Promotion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812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Very Good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80 – 89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Retain &amp; Develop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812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Good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70 – 79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Maintain Performance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812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Needs Improvement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60 – 69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Coaching Support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815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Unsatisfactory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Below 60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60-Day PIP Plan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324600" y="4229100"/>
            <a:ext cx="5524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334155"/>
                </a:solidFill>
                <a:latin typeface="Inter"/>
              </a:rPr>
              <a:t>PIP Policy: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025" y="2378868"/>
            <a:ext cx="30986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79626" y="2378868"/>
            <a:ext cx="11176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97325" y="2378868"/>
            <a:ext cx="11462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1025" y="2752725"/>
            <a:ext cx="30986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79626" y="2752725"/>
            <a:ext cx="11176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97325" y="2752725"/>
            <a:ext cx="11462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1025" y="3126581"/>
            <a:ext cx="30986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79626" y="3126581"/>
            <a:ext cx="11176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97325" y="3126581"/>
            <a:ext cx="11462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1025" y="3500437"/>
            <a:ext cx="30986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79626" y="3500437"/>
            <a:ext cx="11176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797325" y="3500437"/>
            <a:ext cx="11462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48400" y="2414587"/>
            <a:ext cx="17658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14245" y="2414587"/>
            <a:ext cx="17658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780091" y="2414587"/>
            <a:ext cx="18308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48400" y="2824162"/>
            <a:ext cx="17658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14245" y="2824162"/>
            <a:ext cx="17658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780091" y="2824162"/>
            <a:ext cx="18308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48400" y="3233737"/>
            <a:ext cx="17658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014245" y="3233737"/>
            <a:ext cx="17658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780091" y="3233737"/>
            <a:ext cx="18308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48400" y="3643312"/>
            <a:ext cx="17658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014245" y="3643312"/>
            <a:ext cx="17658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780091" y="3643312"/>
            <a:ext cx="18308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6975" y="2085975"/>
            <a:ext cx="685800" cy="2286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2986" y="2524125"/>
            <a:ext cx="762000" cy="2286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3849" y="2914649"/>
            <a:ext cx="476250" cy="2286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8746" y="3324224"/>
            <a:ext cx="1295400" cy="2286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13835" y="3743325"/>
            <a:ext cx="1009650" cy="2286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85837" y="476250"/>
            <a:ext cx="11166395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KPI Design &amp; Performance Evaluation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1500" y="10477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04925"/>
            <a:ext cx="11049000" cy="2447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71500"/>
            <a:ext cx="261937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3867150"/>
            <a:ext cx="11049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1" u="none">
                <a:solidFill>
                  <a:srgbClr val="64748B"/>
                </a:solidFill>
                <a:latin typeface="Inter"/>
              </a:rPr>
              <a:t>* Note: Sample evaluation of 5 employees. The complete methodology applies across all 80 operational call center agents.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369322"/>
              </p:ext>
            </p:extLst>
          </p:nvPr>
        </p:nvGraphicFramePr>
        <p:xfrm>
          <a:off x="590552" y="1085852"/>
          <a:ext cx="11020421" cy="26860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6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9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23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64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6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FFFFFF"/>
                          </a:solidFill>
                          <a:latin typeface="Poppins SemiBold"/>
                        </a:rPr>
                        <a:t>Employee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Performance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Potential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9-Box Position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FFFFFF"/>
                          </a:solidFill>
                          <a:latin typeface="Poppins SemiBold"/>
                        </a:rPr>
                        <a:t>HR Decision &amp; Development Action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l"/>
                      <a:r>
                        <a:rPr sz="1012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Agent 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Top Talent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Promotion &amp; Leadership Development Program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34155"/>
                          </a:solidFill>
                          <a:latin typeface="Inter"/>
                        </a:rPr>
                        <a:t>Agent 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High Performer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Reward &amp; Advance Customer Service Training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34155"/>
                          </a:solidFill>
                          <a:latin typeface="Inter"/>
                        </a:rPr>
                        <a:t>Agent 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Future Leader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Leadership Development Program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34155"/>
                          </a:solidFill>
                          <a:latin typeface="Inter"/>
                        </a:rPr>
                        <a:t>Agent 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Core Employee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Maintain Performance &amp; Quarterly Development Training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678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34155"/>
                          </a:solidFill>
                          <a:latin typeface="Inter"/>
                        </a:rPr>
                        <a:t>Agent 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Low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Low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Performance Improvement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60-Day PIP, Weekly Coaching, Communication Re-evaluation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81025" y="2100262"/>
            <a:ext cx="11566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737717" y="2100262"/>
            <a:ext cx="1460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198167" y="2100262"/>
            <a:ext cx="1133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31493" y="2100262"/>
            <a:ext cx="23485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80001" y="2100262"/>
            <a:ext cx="49309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1025" y="2509837"/>
            <a:ext cx="11566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737717" y="2509837"/>
            <a:ext cx="1460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198167" y="2509837"/>
            <a:ext cx="1133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493" y="2509837"/>
            <a:ext cx="23485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680001" y="2509837"/>
            <a:ext cx="49309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1025" y="2919412"/>
            <a:ext cx="11566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737717" y="2919412"/>
            <a:ext cx="1460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98167" y="2919412"/>
            <a:ext cx="1133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31493" y="2919412"/>
            <a:ext cx="23485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680001" y="2919412"/>
            <a:ext cx="49309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1025" y="3328987"/>
            <a:ext cx="11566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737717" y="3328987"/>
            <a:ext cx="14604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198167" y="3328987"/>
            <a:ext cx="11333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31493" y="3328987"/>
            <a:ext cx="23485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680001" y="3328987"/>
            <a:ext cx="49309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7197" y="1633537"/>
            <a:ext cx="447675" cy="2286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8167" y="1633537"/>
            <a:ext cx="447675" cy="2286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5772" y="2153262"/>
            <a:ext cx="447675" cy="2286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98167" y="2133600"/>
            <a:ext cx="628650" cy="2286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37717" y="2562837"/>
            <a:ext cx="628650" cy="2286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17219" y="2510144"/>
            <a:ext cx="447675" cy="2286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5772" y="2995612"/>
            <a:ext cx="628650" cy="2286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17219" y="2980096"/>
            <a:ext cx="628650" cy="2286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65772" y="3419475"/>
            <a:ext cx="419100" cy="2286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31506" y="3414251"/>
            <a:ext cx="419100" cy="2286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47737" y="476250"/>
            <a:ext cx="1120640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9-Box Talent Matrix &amp; Action Plan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1500" y="10477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04925"/>
            <a:ext cx="3555950" cy="2762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1304925"/>
            <a:ext cx="3555950" cy="2762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1304925"/>
            <a:ext cx="3555950" cy="2762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210050"/>
            <a:ext cx="2655093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9468" y="4210050"/>
            <a:ext cx="2655093" cy="60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7437" y="4210050"/>
            <a:ext cx="2655093" cy="609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5406" y="4210050"/>
            <a:ext cx="2655093" cy="609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571500"/>
            <a:ext cx="328612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575" y="1524000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0575" y="2114550"/>
            <a:ext cx="327369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oppins"/>
              </a:rPr>
              <a:t>Key Activities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37025" y="1524000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37025" y="2114550"/>
            <a:ext cx="327369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oppins"/>
              </a:rPr>
              <a:t>Recognition Program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83475" y="1524000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83475" y="2114550"/>
            <a:ext cx="327369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oppins"/>
              </a:rPr>
              <a:t>Conflict Resolution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4324350"/>
            <a:ext cx="2312193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Poppins"/>
              </a:rPr>
              <a:t>≥ 85%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4562475"/>
            <a:ext cx="2312193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Inter"/>
              </a:rPr>
              <a:t>Satisfaction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9968" y="4324350"/>
            <a:ext cx="2312193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Poppins"/>
              </a:rPr>
              <a:t>&lt; 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9968" y="4562475"/>
            <a:ext cx="2312193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Inter"/>
              </a:rPr>
              <a:t>Turnover Rate 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7937" y="4324350"/>
            <a:ext cx="2312193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Poppins"/>
              </a:rPr>
              <a:t>≥ 80%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7937" y="4562475"/>
            <a:ext cx="2312193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Inter"/>
              </a:rPr>
              <a:t>Engagement Index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5906" y="4324350"/>
            <a:ext cx="2312193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Poppins"/>
              </a:rPr>
              <a:t>≥ 90%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5906" y="4562475"/>
            <a:ext cx="2312193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Inter"/>
              </a:rPr>
              <a:t>Conflict Resolution Rate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400" y="1647825"/>
            <a:ext cx="209550" cy="2095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00125" y="2466975"/>
            <a:ext cx="2908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Monthly 1-on-1 meetings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0125" y="2743200"/>
            <a:ext cx="2908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Quarterly feedback surveys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0125" y="3019425"/>
            <a:ext cx="2908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Monthly rewards &amp; recognition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0125" y="3295650"/>
            <a:ext cx="2908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Bi-monthly team building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0125" y="3571875"/>
            <a:ext cx="2908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Open-door management policy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46562" y="1647825"/>
            <a:ext cx="238125" cy="2095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746575" y="2466975"/>
            <a:ext cx="2908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Employee of the Month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46575" y="2743200"/>
            <a:ext cx="2908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Performance Certifications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46575" y="3019425"/>
            <a:ext cx="2908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Gift Cards &amp; Bonuses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46575" y="3295650"/>
            <a:ext cx="2908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Public Team Appreciation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78725" y="1647825"/>
            <a:ext cx="266700" cy="2095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331100" y="2464593"/>
            <a:ext cx="952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1.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26350" y="2466975"/>
            <a:ext cx="2974925" cy="21431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Report issue (1 Day)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525" y="2678906"/>
            <a:ext cx="1238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2.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26350" y="2681287"/>
            <a:ext cx="2974925" cy="214312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HR Investigation (48 hrs)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2525" y="2893218"/>
            <a:ext cx="1238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3.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26350" y="2895600"/>
            <a:ext cx="2974925" cy="214312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Joint Meeting (3 Days)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2525" y="3107531"/>
            <a:ext cx="1238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4.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26350" y="3109912"/>
            <a:ext cx="2974925" cy="214312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Solution Agreement (5 Days)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02525" y="3321843"/>
            <a:ext cx="1238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5.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6350" y="3324225"/>
            <a:ext cx="2974925" cy="214312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Follow-up (1 Week)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8675" y="243840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675" y="271462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675" y="299085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675" y="326707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8675" y="354330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5125" y="243840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5125" y="271462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5125" y="299085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5125" y="326707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4412" y="476250"/>
            <a:ext cx="11136391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Employee Relations &amp; Engagement Strategy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1500" y="10477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36143"/>
            <a:ext cx="2676525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325" y="3436143"/>
            <a:ext cx="2676525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150" y="3436143"/>
            <a:ext cx="2676525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3975" y="3436143"/>
            <a:ext cx="2676525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1637" y="1209675"/>
            <a:ext cx="476250" cy="476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2114550"/>
            <a:ext cx="2571750" cy="113109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6750" y="1209675"/>
            <a:ext cx="476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2114550"/>
            <a:ext cx="2571750" cy="1131093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1228725"/>
            <a:ext cx="476250" cy="476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0" y="2114550"/>
            <a:ext cx="2571750" cy="1131093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92032" y="1209675"/>
            <a:ext cx="476250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53500" y="2114550"/>
            <a:ext cx="2571750" cy="1131093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571500"/>
            <a:ext cx="300037" cy="2667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123950" y="1685925"/>
            <a:ext cx="99441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2000" y="3550443"/>
            <a:ext cx="233362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Poppins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788568"/>
            <a:ext cx="2333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Inter"/>
              </a:rPr>
              <a:t>Training Completion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2825" y="3550443"/>
            <a:ext cx="233362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Poppins"/>
              </a:rPr>
              <a:t>≤ 30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2825" y="3788568"/>
            <a:ext cx="2333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Inter"/>
              </a:rPr>
              <a:t>Time to Productivity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3650" y="3550443"/>
            <a:ext cx="233362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Poppins"/>
              </a:rPr>
              <a:t>≥ 95%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3650" y="3788568"/>
            <a:ext cx="2333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Inter"/>
              </a:rPr>
              <a:t>3-Month Retention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475" y="3550443"/>
            <a:ext cx="233362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Poppins"/>
              </a:rPr>
              <a:t>≥ 80%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475" y="3788568"/>
            <a:ext cx="2333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Inter"/>
              </a:rPr>
              <a:t>Month 1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479" y="2295525"/>
            <a:ext cx="232029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369A1"/>
                </a:solidFill>
                <a:latin typeface="Poppins"/>
              </a:rPr>
              <a:t>Pre-Onboarding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725" y="2571750"/>
            <a:ext cx="2209800" cy="4929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93"/>
              </a:lnSpc>
            </a:pPr>
            <a:r>
              <a:rPr sz="862" b="0" i="0" u="none">
                <a:solidFill>
                  <a:srgbClr val="475569"/>
                </a:solidFill>
                <a:latin typeface="Inter"/>
              </a:rPr>
              <a:t>Send offer contract (HR), prepare workstation/laptop &amp; headset (IT/Admin), create CRM account.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4730" y="2295525"/>
            <a:ext cx="232029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369A1"/>
                </a:solidFill>
                <a:latin typeface="Poppins"/>
              </a:rPr>
              <a:t>First 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9975" y="2571750"/>
            <a:ext cx="2209800" cy="4929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93"/>
              </a:lnSpc>
            </a:pPr>
            <a:r>
              <a:rPr sz="862" b="0" i="0" u="none">
                <a:solidFill>
                  <a:srgbClr val="475569"/>
                </a:solidFill>
                <a:latin typeface="Inter"/>
              </a:rPr>
              <a:t>Welcome session, company overview, team introduction, office tour, system access validation.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6980" y="2295525"/>
            <a:ext cx="232029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369A1"/>
                </a:solidFill>
                <a:latin typeface="Poppins"/>
              </a:rPr>
              <a:t>First Week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2225" y="2571750"/>
            <a:ext cx="2209800" cy="4929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93"/>
              </a:lnSpc>
            </a:pPr>
            <a:r>
              <a:rPr sz="862" b="0" i="0" u="none">
                <a:solidFill>
                  <a:srgbClr val="475569"/>
                </a:solidFill>
                <a:latin typeface="Inter"/>
              </a:rPr>
              <a:t>Communication &amp; CRM training, first live calls under supervisor coaching, daily follow-up.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9230" y="2295525"/>
            <a:ext cx="232029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369A1"/>
                </a:solidFill>
                <a:latin typeface="Poppins"/>
              </a:rPr>
              <a:t>First Month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4475" y="2571750"/>
            <a:ext cx="2209800" cy="4929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93"/>
              </a:lnSpc>
            </a:pPr>
            <a:r>
              <a:rPr sz="862" b="0" i="0" u="none">
                <a:solidFill>
                  <a:srgbClr val="475569"/>
                </a:solidFill>
                <a:latin typeface="Inter"/>
              </a:rPr>
              <a:t>Performance review, feedback session, addressing challenges, confirming full onboarding success.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5837" y="476250"/>
            <a:ext cx="11166395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Employee Onboarding Roadmap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1500" y="10477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1269</Words>
  <Application>Microsoft Office PowerPoint</Application>
  <PresentationFormat>Widescreen</PresentationFormat>
  <Paragraphs>327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Inter</vt:lpstr>
      <vt:lpstr>Poppins</vt:lpstr>
      <vt:lpstr>Poppins ExtraBold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mena tahaa</cp:lastModifiedBy>
  <cp:revision>3</cp:revision>
  <dcterms:created xsi:type="dcterms:W3CDTF">2013-01-27T09:14:16Z</dcterms:created>
  <dcterms:modified xsi:type="dcterms:W3CDTF">2026-10-03T18:58:04Z</dcterms:modified>
  <cp:category/>
</cp:coreProperties>
</file>